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58" r:id="rId7"/>
    <p:sldId id="259" r:id="rId8"/>
    <p:sldId id="261" r:id="rId9"/>
    <p:sldId id="263" r:id="rId10"/>
    <p:sldId id="257" r:id="rId11"/>
    <p:sldId id="260" r:id="rId12"/>
    <p:sldId id="262" r:id="rId13"/>
    <p:sldId id="268" r:id="rId14"/>
    <p:sldId id="269" r:id="rId15"/>
    <p:sldId id="276" r:id="rId16"/>
    <p:sldId id="271" r:id="rId17"/>
    <p:sldId id="273" r:id="rId18"/>
    <p:sldId id="274" r:id="rId19"/>
    <p:sldId id="275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3.png"/><Relationship Id="rId5" Type="http://schemas.openxmlformats.org/officeDocument/2006/relationships/image" Target="../media/image58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3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2.png"/><Relationship Id="rId2" Type="http://schemas.openxmlformats.org/officeDocument/2006/relationships/image" Target="../media/image5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1.png"/><Relationship Id="rId5" Type="http://schemas.openxmlformats.org/officeDocument/2006/relationships/image" Target="../media/image66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5.png"/><Relationship Id="rId9" Type="http://schemas.openxmlformats.org/officeDocument/2006/relationships/image" Target="../media/image7.png"/><Relationship Id="rId1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8.png"/><Relationship Id="rId7" Type="http://schemas.openxmlformats.org/officeDocument/2006/relationships/image" Target="../media/image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5.png"/><Relationship Id="rId5" Type="http://schemas.openxmlformats.org/officeDocument/2006/relationships/image" Target="../media/image80.png"/><Relationship Id="rId10" Type="http://schemas.openxmlformats.org/officeDocument/2006/relationships/image" Target="../media/image84.png"/><Relationship Id="rId4" Type="http://schemas.openxmlformats.org/officeDocument/2006/relationships/image" Target="../media/image79.png"/><Relationship Id="rId9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6.png"/><Relationship Id="rId7" Type="http://schemas.openxmlformats.org/officeDocument/2006/relationships/image" Target="../media/image8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7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1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5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99.png"/><Relationship Id="rId5" Type="http://schemas.openxmlformats.org/officeDocument/2006/relationships/image" Target="../media/image94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3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7" Type="http://schemas.openxmlformats.org/officeDocument/2006/relationships/image" Target="../media/image10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7.png"/><Relationship Id="rId10" Type="http://schemas.openxmlformats.org/officeDocument/2006/relationships/image" Target="../media/image112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4.png"/><Relationship Id="rId7" Type="http://schemas.openxmlformats.org/officeDocument/2006/relationships/image" Target="../media/image1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1.png"/><Relationship Id="rId5" Type="http://schemas.openxmlformats.org/officeDocument/2006/relationships/image" Target="../media/image116.png"/><Relationship Id="rId10" Type="http://schemas.openxmlformats.org/officeDocument/2006/relationships/image" Target="../media/image120.png"/><Relationship Id="rId4" Type="http://schemas.openxmlformats.org/officeDocument/2006/relationships/image" Target="../media/image115.png"/><Relationship Id="rId9" Type="http://schemas.openxmlformats.org/officeDocument/2006/relationships/image" Target="../media/image1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2.png"/><Relationship Id="rId7" Type="http://schemas.openxmlformats.org/officeDocument/2006/relationships/image" Target="../media/image125.png"/><Relationship Id="rId12" Type="http://schemas.openxmlformats.org/officeDocument/2006/relationships/image" Target="../media/image13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9.jpg"/><Relationship Id="rId5" Type="http://schemas.openxmlformats.org/officeDocument/2006/relationships/image" Target="../media/image7.png"/><Relationship Id="rId10" Type="http://schemas.openxmlformats.org/officeDocument/2006/relationships/image" Target="../media/image128.jpg"/><Relationship Id="rId4" Type="http://schemas.openxmlformats.org/officeDocument/2006/relationships/image" Target="../media/image123.png"/><Relationship Id="rId9" Type="http://schemas.openxmlformats.org/officeDocument/2006/relationships/image" Target="../media/image1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1.png"/><Relationship Id="rId7" Type="http://schemas.openxmlformats.org/officeDocument/2006/relationships/image" Target="../media/image1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7.png"/><Relationship Id="rId9" Type="http://schemas.openxmlformats.org/officeDocument/2006/relationships/image" Target="../media/image1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9" Type="http://schemas.openxmlformats.org/officeDocument/2006/relationships/image" Target="../media/image1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733425" cy="371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4307978"/>
            <a:ext cx="3476625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307978"/>
            <a:ext cx="3476625" cy="733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1125" y="542925"/>
            <a:ext cx="4124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CA3AF"/>
                </a:solidFill>
                <a:latin typeface="Inter"/>
              </a:rPr>
              <a:t>CENTRO DE FORMACIÓN — BARRANQUILLA / MALAMBO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2" y="1816447"/>
            <a:ext cx="3762375" cy="295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45406" y="2368897"/>
            <a:ext cx="9501187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  <a:defRPr/>
            </a:pPr>
            <a:r>
              <a:rPr sz="3900" b="0" i="0" u="none" dirty="0">
                <a:solidFill>
                  <a:srgbClr val="FFFFFF"/>
                </a:solidFill>
                <a:latin typeface="Poppins ExtraBold"/>
              </a:rPr>
              <a:t>DESPERTANDO EL PODER DE LOS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5561" y="3652688"/>
            <a:ext cx="7020877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0" i="0" u="none" dirty="0">
                <a:solidFill>
                  <a:srgbClr val="38BDF8"/>
                </a:solidFill>
                <a:latin typeface="Poppins"/>
              </a:rPr>
              <a:t>Dashboard de Análisis de Ventas y Rendimiento Comercial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2250" y="4488953"/>
            <a:ext cx="30003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INTEGRANTES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2250" y="4669928"/>
            <a:ext cx="30003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Inter SemiBold"/>
              </a:rPr>
              <a:t>Diana Torres &amp; Laura Pérez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488953"/>
            <a:ext cx="30003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INSTRUCTOR GUÍA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669928"/>
            <a:ext cx="30003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Inter SemiBold"/>
              </a:rPr>
              <a:t>Jonathan Robledo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5" y="1701998"/>
            <a:ext cx="723126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0" y="6515100"/>
            <a:ext cx="1562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Fase</a:t>
            </a:r>
            <a:r>
              <a:rPr sz="9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Práctica</a:t>
            </a:r>
            <a:r>
              <a:rPr sz="900" b="0" i="0" u="none" dirty="0">
                <a:solidFill>
                  <a:srgbClr val="4B5563"/>
                </a:solidFill>
                <a:latin typeface="Inter"/>
              </a:rPr>
              <a:t> — Importación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685901"/>
            <a:ext cx="1609725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3038326"/>
            <a:ext cx="4088479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>
                <a:solidFill>
                  <a:srgbClr val="FFFFFF"/>
                </a:solidFill>
                <a:latin typeface="Poppins"/>
              </a:rPr>
              <a:t>Conexión a Fuentes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432571"/>
            <a:ext cx="38937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CA3AF"/>
                </a:solidFill>
                <a:latin typeface="Inter"/>
              </a:rPr>
              <a:t>Se establecieron las conexiones de datos extrayendo los archivos estructurados directamente a la memoria de Power BI Desktop.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365" y="1721048"/>
            <a:ext cx="7193160" cy="415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223146"/>
            <a:ext cx="389379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604146"/>
            <a:ext cx="389379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4318396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699396"/>
            <a:ext cx="10477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Paso 1: Carga e Importación de Fuentes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5" y="1701998"/>
            <a:ext cx="723126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87560"/>
            <a:ext cx="300037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29825" y="6515100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Fase Práctica — Power Query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354460"/>
            <a:ext cx="1628775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706885"/>
            <a:ext cx="40884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 dirty="0">
                <a:solidFill>
                  <a:srgbClr val="FFFFFF"/>
                </a:solidFill>
                <a:latin typeface="Poppins"/>
              </a:rPr>
              <a:t>Calidad de Datos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365" y="1721048"/>
            <a:ext cx="7193160" cy="41529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3400" y="3049785"/>
            <a:ext cx="3893790" cy="666750"/>
          </a:xfrm>
          <a:prstGeom prst="roundRect">
            <a:avLst>
              <a:gd name="adj" fmla="val 17142"/>
            </a:avLst>
          </a:prstGeom>
          <a:solidFill>
            <a:srgbClr val="11182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50" y="3145035"/>
            <a:ext cx="362709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Inter"/>
              </a:rPr>
              <a:t>Depuración: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 Eliminación de registros nulos y duplicados.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3811785"/>
            <a:ext cx="3893790" cy="666750"/>
          </a:xfrm>
          <a:prstGeom prst="roundRect">
            <a:avLst>
              <a:gd name="adj" fmla="val 17142"/>
            </a:avLst>
          </a:prstGeom>
          <a:solidFill>
            <a:srgbClr val="11182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750" y="3907035"/>
            <a:ext cx="362709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8BDF8"/>
                </a:solidFill>
                <a:latin typeface="Inter"/>
              </a:rPr>
              <a:t>Tipos de Datos: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Asignación estricta de Moneda, Enteros y Textos.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4573785"/>
            <a:ext cx="3893790" cy="666750"/>
          </a:xfrm>
          <a:prstGeom prst="roundRect">
            <a:avLst>
              <a:gd name="adj" fmla="val 17142"/>
            </a:avLst>
          </a:prstGeom>
          <a:solidFill>
            <a:srgbClr val="11182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6750" y="4669035"/>
            <a:ext cx="362709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8BDF8"/>
                </a:solidFill>
                <a:latin typeface="Inter"/>
              </a:rPr>
              <a:t>Normalización:</a:t>
            </a:r>
            <a:r>
              <a:rPr sz="1200" b="0" i="0" u="none" dirty="0">
                <a:solidFill>
                  <a:srgbClr val="9CA3AF"/>
                </a:solidFill>
                <a:latin typeface="Inter"/>
              </a:rPr>
              <a:t> Corrección de nombres de países y continentes.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3707010"/>
            <a:ext cx="3893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469010"/>
            <a:ext cx="3893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5231010"/>
            <a:ext cx="3893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7737" y="438150"/>
            <a:ext cx="112442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Paso 2: Limpieza y Transformación en Power 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5" y="1701998"/>
            <a:ext cx="723126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126110"/>
            <a:ext cx="3893790" cy="55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7560"/>
            <a:ext cx="300037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2675" y="6515100"/>
            <a:ext cx="1685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Fase</a:t>
            </a:r>
            <a:r>
              <a:rPr sz="9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Práctica</a:t>
            </a:r>
            <a:r>
              <a:rPr sz="900" b="0" i="0" u="none" dirty="0">
                <a:solidFill>
                  <a:srgbClr val="4B5563"/>
                </a:solidFill>
                <a:latin typeface="Inter"/>
              </a:rPr>
              <a:t> — Modelamiento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916435"/>
            <a:ext cx="1871662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268860"/>
            <a:ext cx="40884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 dirty="0">
                <a:solidFill>
                  <a:srgbClr val="FFFFFF"/>
                </a:solidFill>
                <a:latin typeface="Poppins"/>
              </a:rPr>
              <a:t>Modelo Relacional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611760"/>
            <a:ext cx="389379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Se estructuró un esquema eficiente asegurando la propagación correcta de filtros sin ambigüedad.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4365" y="1721048"/>
            <a:ext cx="7193160" cy="415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275" y="4249935"/>
            <a:ext cx="1114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4D399"/>
                </a:solidFill>
                <a:latin typeface="Inter"/>
              </a:rPr>
              <a:t>Tabla de Medidas: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737" y="438150"/>
            <a:ext cx="112442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Paso 3: Diseño del Modelo Relacional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366" y="1501059"/>
            <a:ext cx="7256904" cy="447766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360" y="1101029"/>
            <a:ext cx="2024110" cy="52140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49723"/>
            <a:ext cx="6118770" cy="40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064073"/>
            <a:ext cx="611877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78423"/>
            <a:ext cx="611877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92773"/>
            <a:ext cx="611877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607123"/>
            <a:ext cx="611877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87560"/>
            <a:ext cx="328612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0300" y="6515100"/>
            <a:ext cx="1638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Fase</a:t>
            </a:r>
            <a:r>
              <a:rPr sz="9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Práctica</a:t>
            </a:r>
            <a:r>
              <a:rPr sz="900" b="0" i="0" u="none" dirty="0">
                <a:solidFill>
                  <a:srgbClr val="4B5563"/>
                </a:solidFill>
                <a:latin typeface="Inter"/>
              </a:rPr>
              <a:t> — Medidas DAX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673548"/>
            <a:ext cx="9603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Courier New"/>
              </a:rPr>
              <a:t>Total Ventas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187898"/>
            <a:ext cx="8803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Courier New"/>
              </a:rPr>
              <a:t>Costo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702248"/>
            <a:ext cx="112037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ourier New"/>
              </a:rPr>
              <a:t>Ganancia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216598"/>
            <a:ext cx="64025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ourier New"/>
              </a:rPr>
              <a:t>Margen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30948"/>
            <a:ext cx="120044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Courier New"/>
              </a:rPr>
              <a:t>Ticket Promedio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312" y="438150"/>
            <a:ext cx="11215687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Paso 4: Creación de Medidas Analíticas DAX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7771" y="1198486"/>
            <a:ext cx="1747917" cy="501181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208014"/>
            <a:ext cx="8572500" cy="20454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2175" y="2560439"/>
            <a:ext cx="78676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FFFFFF"/>
                </a:solidFill>
                <a:latin typeface="Inter Medium"/>
              </a:rPr>
              <a:t>“Diseñar e implementar un </a:t>
            </a:r>
            <a:r>
              <a:rPr sz="1650" b="1" i="0" u="none" dirty="0">
                <a:solidFill>
                  <a:srgbClr val="38BDF8"/>
                </a:solidFill>
                <a:latin typeface="Inter"/>
              </a:rPr>
              <a:t>dashboard interactivo en Power BI</a:t>
            </a:r>
            <a:r>
              <a:rPr sz="1650" b="0" i="0" u="none" dirty="0">
                <a:solidFill>
                  <a:srgbClr val="FFFFFF"/>
                </a:solidFill>
                <a:latin typeface="Inter Medium"/>
              </a:rPr>
              <a:t> que permita consolidar, visualizar y analizar el comportamiento de las ventas, costos, utilidades y operaciones comerciales, facilitando la identificación de tendencias y la </a:t>
            </a:r>
            <a:r>
              <a:rPr sz="1650" b="1" i="0" u="none" dirty="0">
                <a:solidFill>
                  <a:srgbClr val="34D399"/>
                </a:solidFill>
                <a:latin typeface="Inter"/>
              </a:rPr>
              <a:t>toma de decisiones estratégicas</a:t>
            </a:r>
            <a:r>
              <a:rPr sz="1650" b="0" i="0" u="none" dirty="0">
                <a:solidFill>
                  <a:srgbClr val="FFFFFF"/>
                </a:solidFill>
                <a:latin typeface="Inter Medium"/>
              </a:rPr>
              <a:t>.”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569" y="4739282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175" y="5082182"/>
            <a:ext cx="152548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F3F4F6"/>
                </a:solidFill>
                <a:latin typeface="Inter SemiBold"/>
              </a:rPr>
              <a:t>Ventas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6088" y="4929782"/>
            <a:ext cx="1525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F3F4F6"/>
                </a:solidFill>
                <a:latin typeface="Inter SemiBold"/>
              </a:rPr>
              <a:t>Costos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150" y="4929782"/>
            <a:ext cx="1525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F3F4F6"/>
                </a:solidFill>
                <a:latin typeface="Inter SemiBold"/>
              </a:rPr>
              <a:t>Utilidad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894" y="4739282"/>
            <a:ext cx="23812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72212" y="5082182"/>
            <a:ext cx="152548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F3F4F6"/>
                </a:solidFill>
                <a:latin typeface="Inter SemiBold"/>
              </a:rPr>
              <a:t>Productos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6182" y="4739282"/>
            <a:ext cx="33337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50125" y="5082182"/>
            <a:ext cx="1525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F3F4F6"/>
                </a:solidFill>
                <a:latin typeface="Inter SemiBold"/>
              </a:rPr>
              <a:t>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oppins"/>
              </a:rPr>
              <a:t>Objetivo General del Proyecto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71712"/>
            <a:ext cx="3581400" cy="1430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271712"/>
            <a:ext cx="3581400" cy="14305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271712"/>
            <a:ext cx="3581400" cy="1430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92748"/>
            <a:ext cx="3581400" cy="14305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3892748"/>
            <a:ext cx="3581400" cy="14305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3892748"/>
            <a:ext cx="3581400" cy="143053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6575" y="6515100"/>
            <a:ext cx="962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Ruta de </a:t>
            </a:r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Ejecución</a:t>
            </a:r>
            <a:endParaRPr sz="900" b="0" i="0" u="none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71598" y="2414884"/>
            <a:ext cx="56225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Inter ExtraBold"/>
              </a:rPr>
              <a:t>01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509837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1525" y="2852737"/>
            <a:ext cx="3260407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FFFFFF"/>
                </a:solidFill>
                <a:latin typeface="Poppins"/>
              </a:rPr>
              <a:t>1. Preparar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09264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Limpieza, normalización y transformación exhaustiva en Power Query.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9025" y="2424112"/>
            <a:ext cx="2952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ExtraBold"/>
              </a:rPr>
              <a:t>02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425" y="2509837"/>
            <a:ext cx="25717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43425" y="2852737"/>
            <a:ext cx="3260407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FFFFFF"/>
                </a:solidFill>
                <a:latin typeface="Poppins"/>
              </a:rPr>
              <a:t>2. Construir Modelo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3425" y="309264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Diseñar un esquema relacional copo de nieve eficiente y escalable.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2424112"/>
            <a:ext cx="304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ExtraBold"/>
              </a:rPr>
              <a:t>03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5" y="2509837"/>
            <a:ext cx="1714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5325" y="2852737"/>
            <a:ext cx="3260407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FFFFFF"/>
                </a:solidFill>
                <a:latin typeface="Poppins"/>
              </a:rPr>
              <a:t>3. Medidas DAX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09264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Creación de KPIs e indicadores financieros dinámicos y eficientes.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045148"/>
            <a:ext cx="304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ExtraBold"/>
              </a:rPr>
              <a:t>04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130873"/>
            <a:ext cx="25717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1525" y="4473773"/>
            <a:ext cx="3260407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FFFFFF"/>
                </a:solidFill>
                <a:latin typeface="Poppins"/>
              </a:rPr>
              <a:t>4. Diseñar Visuales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4713684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Convertir datos numéricos en gráficos e interfaces comprensibles.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9025" y="4045148"/>
            <a:ext cx="2952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Inter ExtraBold"/>
              </a:rPr>
              <a:t>05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3425" y="4130873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43425" y="4473773"/>
            <a:ext cx="3260407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FFFFFF"/>
                </a:solidFill>
                <a:latin typeface="Poppins"/>
              </a:rPr>
              <a:t>5. Analizar Resultados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425" y="4713684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Detectar patrones estacionales, fortalezas y áreas de oportunidad.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4045148"/>
            <a:ext cx="304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4D399"/>
                </a:solidFill>
                <a:latin typeface="Inter ExtraBold"/>
              </a:rPr>
              <a:t>06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5325" y="4130873"/>
            <a:ext cx="171450" cy="228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15325" y="4473773"/>
            <a:ext cx="3260407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34D399"/>
                </a:solidFill>
                <a:latin typeface="Poppins"/>
              </a:rPr>
              <a:t>6. Tomar Decisiones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4713684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E5E7EB"/>
                </a:solidFill>
                <a:latin typeface="Inter"/>
              </a:rPr>
              <a:t>Formular estrategias de negocio respaldadas en evidencia analítica.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Objetivos Específicos &amp; Ruta Metodológica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607123"/>
            <a:ext cx="111252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225998"/>
            <a:ext cx="2674143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418" y="3225998"/>
            <a:ext cx="2674143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3225998"/>
            <a:ext cx="2674143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4456" y="3225998"/>
            <a:ext cx="2674143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2473523"/>
            <a:ext cx="11125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E5E7EB"/>
                </a:solidFill>
                <a:latin typeface="Inter"/>
              </a:rPr>
              <a:t>Un </a:t>
            </a:r>
            <a:r>
              <a:rPr sz="1350" b="1" i="0" u="none" dirty="0">
                <a:solidFill>
                  <a:srgbClr val="E5E7EB"/>
                </a:solidFill>
                <a:latin typeface="Inter"/>
              </a:rPr>
              <a:t>Dashboard</a:t>
            </a:r>
            <a:r>
              <a:rPr sz="1350" b="0" i="0" u="none" dirty="0">
                <a:solidFill>
                  <a:srgbClr val="E5E7EB"/>
                </a:solidFill>
                <a:latin typeface="Inter"/>
              </a:rPr>
              <a:t> es una interfaz gráfica centralizada que reúne los métricos clave (KPIs) e indicadores de rendimiento facilitando el monitoreo gerencial acelerado.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0700" y="4769048"/>
            <a:ext cx="2000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Inter SemiBold"/>
              </a:rPr>
              <a:t>Ecosistema del Dashboard: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3825" y="4788098"/>
            <a:ext cx="6467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D1D5DB"/>
                </a:solidFill>
                <a:latin typeface="Inter"/>
              </a:rPr>
              <a:t>KPIs → Gráficos Temporales → Distribución Geográfica → Filtros Interactivos → Diagnóstico Estratégico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7121" y="3426023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566" y="3787973"/>
            <a:ext cx="248781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Tarjetas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97523"/>
            <a:ext cx="23693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Métricas consolidadas de alto nivel.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4140" y="3426023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43585" y="3787973"/>
            <a:ext cx="248781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Visuales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818" y="3997523"/>
            <a:ext cx="23693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Gráficos de barras, líneas y sectores.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1159" y="3426023"/>
            <a:ext cx="2667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0603" y="3787973"/>
            <a:ext cx="248781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Mapas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9837" y="3997523"/>
            <a:ext cx="23693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Distribución geográfica de ventas.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8178" y="3426023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77622" y="3787973"/>
            <a:ext cx="248781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Filtros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6856" y="3997523"/>
            <a:ext cx="23693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Segmentación dinámica multivariable.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Concepto Fundamental: ¿Qué es un Dashboard?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95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16360"/>
            <a:ext cx="354955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2316360"/>
            <a:ext cx="3549699" cy="2181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900" y="2316360"/>
            <a:ext cx="3549550" cy="2181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87560"/>
            <a:ext cx="300037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783335"/>
            <a:ext cx="111252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6975" y="6515100"/>
            <a:ext cx="1571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Componentes Metodológicos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5625" y="4935735"/>
            <a:ext cx="1381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Inter SemiBold"/>
              </a:rPr>
              <a:t>Sinergia Operativa: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4954785"/>
            <a:ext cx="44767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E5E7EB"/>
                </a:solidFill>
                <a:latin typeface="Inter"/>
              </a:rPr>
              <a:t>KPI (Mide) DAX (Calcula) Segmentador (Filtra) Análisis Gerencial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2583060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" y="3030735"/>
            <a:ext cx="322696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FFFFFF"/>
                </a:solidFill>
                <a:latin typeface="Poppins"/>
              </a:rPr>
              <a:t>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392685"/>
            <a:ext cx="146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Inter SemiBold"/>
              </a:rPr>
              <a:t>Key Performance Indicator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659385"/>
            <a:ext cx="3073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CA3AF"/>
                </a:solidFill>
                <a:latin typeface="Inter"/>
              </a:rPr>
              <a:t>Métrica cuantitativa que evalúa el grado de cumplimiento de los objetivos comerciales esenciales.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200" y="2583060"/>
            <a:ext cx="3810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59200" y="3030735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FFFFFF"/>
                </a:solidFill>
                <a:latin typeface="Poppins"/>
              </a:rPr>
              <a:t>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200" y="3392685"/>
            <a:ext cx="146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Inter SemiBold"/>
              </a:rPr>
              <a:t>Data Analysis Expressions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200" y="3659385"/>
            <a:ext cx="3073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CA3AF"/>
                </a:solidFill>
                <a:latin typeface="Inter"/>
              </a:rPr>
              <a:t>Lenguaje de fórmulas analíticas utilizado para calcular métricas dinámicas avanzadas.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7025" y="2583060"/>
            <a:ext cx="3048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47025" y="3030735"/>
            <a:ext cx="322696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FFFFFF"/>
                </a:solidFill>
                <a:latin typeface="Poppins"/>
              </a:rPr>
              <a:t>Segmentadores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7025" y="3392685"/>
            <a:ext cx="990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BBF24"/>
                </a:solidFill>
                <a:latin typeface="Inter SemiBold"/>
              </a:rPr>
              <a:t>Interactive Slicers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7025" y="3659385"/>
            <a:ext cx="3073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CA3AF"/>
                </a:solidFill>
                <a:latin typeface="Inter"/>
              </a:rPr>
              <a:t>Controles interactivos que permiten filtrar y explorar la información según múltiples perspectivas.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737" y="438150"/>
            <a:ext cx="112442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oppins"/>
              </a:rPr>
              <a:t>Pilares Analíticos del Proyecto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037879"/>
            <a:ext cx="5419725" cy="681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33217"/>
            <a:ext cx="5419725" cy="681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628554"/>
            <a:ext cx="5419725" cy="6810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925960"/>
            <a:ext cx="5419725" cy="6810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3721298"/>
            <a:ext cx="5419725" cy="6810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4516635"/>
            <a:ext cx="5419725" cy="904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2173485"/>
            <a:ext cx="11125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E5E7EB"/>
                </a:solidFill>
                <a:latin typeface="Inter"/>
              </a:rPr>
              <a:t>La compañía presentaba serias dificultades para consolidar y analizar globalmente sus operaciones comerciales debido a la dispersión y falta de estructura en su información.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6050" y="6515100"/>
            <a:ext cx="1352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Introducción al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180754"/>
            <a:ext cx="5240655" cy="17145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87171"/>
                </a:solidFill>
                <a:latin typeface="Poppins"/>
              </a:rPr>
              <a:t>01 — Falta de Visibilidad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390304"/>
            <a:ext cx="49911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Sin visión unificada e integrada de ventas, costos y utilidades netas.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976092"/>
            <a:ext cx="5240655" cy="17145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BBF24"/>
                </a:solidFill>
                <a:latin typeface="Poppins"/>
              </a:rPr>
              <a:t>02 — Impacto por Producto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185642"/>
            <a:ext cx="49911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Dificultad para identificar qué subcategorías impulsan o frenan la facturación.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771429"/>
            <a:ext cx="5240655" cy="17145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60A5FA"/>
                </a:solidFill>
                <a:latin typeface="Poppins"/>
              </a:rPr>
              <a:t>03 — Análisis Temporal (2020 - 2023)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980979"/>
            <a:ext cx="49911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Imposibilidad de detectar tendencias estacionales y patrones de crecimiento.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3068835"/>
            <a:ext cx="5240655" cy="17145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A78BFA"/>
                </a:solidFill>
                <a:latin typeface="Poppins"/>
              </a:rPr>
              <a:t>04 — Desempeño Geográfico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3278385"/>
            <a:ext cx="49911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Falta de análisis comparativo del comportamiento del mercado por continente.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3864173"/>
            <a:ext cx="5240655" cy="17145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34D399"/>
                </a:solidFill>
                <a:latin typeface="Poppins"/>
              </a:rPr>
              <a:t>05 — Segmentación de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4073723"/>
            <a:ext cx="49911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Ausencia de perfiles claros para priorizar cuentas clave estratégicas.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900" y="4678560"/>
            <a:ext cx="5270658" cy="17145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38BDF8"/>
                </a:solidFill>
                <a:latin typeface="Poppins"/>
              </a:rPr>
              <a:t>Solución Implementada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900" y="4888110"/>
            <a:ext cx="50196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E5E7EB"/>
                </a:solidFill>
                <a:latin typeface="Inter"/>
              </a:rPr>
              <a:t>Construcción de un Dashboard Interactivo en Power BI para convertir datos crudos en decisiones de alto impacto.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190279"/>
            <a:ext cx="1809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985617"/>
            <a:ext cx="1619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780954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7475" y="3078360"/>
            <a:ext cx="1428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7475" y="3873698"/>
            <a:ext cx="1809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4688085"/>
            <a:ext cx="142875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¿Qué Problema Vamos a Resolver?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0135"/>
            <a:ext cx="5372100" cy="3514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516510"/>
            <a:ext cx="46863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02310"/>
            <a:ext cx="46863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888110"/>
            <a:ext cx="46863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2225" y="6515100"/>
            <a:ext cx="14763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Fundamentos Tecnológicos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238226"/>
            <a:ext cx="53721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E5E7EB"/>
                </a:solidFill>
                <a:latin typeface="Inter"/>
              </a:rPr>
              <a:t>Power BI</a:t>
            </a:r>
            <a:r>
              <a:rPr sz="1350" b="0" i="0" u="none" dirty="0">
                <a:solidFill>
                  <a:srgbClr val="E5E7EB"/>
                </a:solidFill>
                <a:latin typeface="Inter"/>
              </a:rPr>
              <a:t> es la plataforma líder de Inteligencia de Negocios de Microsoft que transforma fuentes dispersas de datos en información visual interactiva y accionable.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5362" y="2383035"/>
            <a:ext cx="714375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2242" y="3145035"/>
            <a:ext cx="49206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500" b="1" i="0" u="none" dirty="0">
                <a:solidFill>
                  <a:srgbClr val="FFFFFF"/>
                </a:solidFill>
                <a:latin typeface="Poppins"/>
              </a:rPr>
              <a:t>Flujo de Valor en el Proyecto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3935610"/>
            <a:ext cx="1143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4621410"/>
            <a:ext cx="1143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3494484"/>
            <a:ext cx="13335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9175" y="3489721"/>
            <a:ext cx="2438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D1D5DB"/>
                </a:solidFill>
                <a:latin typeface="Inter"/>
              </a:rPr>
              <a:t>Integración y consolidación multifuente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4227909"/>
            <a:ext cx="13335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9175" y="4223146"/>
            <a:ext cx="2543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D1D5DB"/>
                </a:solidFill>
                <a:latin typeface="Inter"/>
              </a:rPr>
              <a:t>Modelamiento y lenguaje DAX avanzado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4961334"/>
            <a:ext cx="1333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9175" y="4956571"/>
            <a:ext cx="27146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D1D5DB"/>
                </a:solidFill>
                <a:latin typeface="Inter"/>
              </a:rPr>
              <a:t>Interacción dinámica y filtros en tiempo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Concepto Fundamental: ¿Qué es Power BI?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33352"/>
            <a:ext cx="11307618" cy="25284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794968"/>
            <a:ext cx="4943475" cy="742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7560"/>
            <a:ext cx="233362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0" y="6515100"/>
            <a:ext cx="990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Orígenes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4680793"/>
            <a:ext cx="4943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CA3AF"/>
                </a:solidFill>
                <a:latin typeface="Inter"/>
              </a:rPr>
              <a:t>* Permite agregaciones dinámicas a nivel continental.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771477"/>
            <a:ext cx="1400175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25" y="3123902"/>
            <a:ext cx="5190648" cy="213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sz="1404" b="1" i="0" u="none">
                <a:solidFill>
                  <a:srgbClr val="38BDF8"/>
                </a:solidFill>
                <a:latin typeface="Poppins"/>
              </a:rPr>
              <a:t>DataDisUno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452068"/>
            <a:ext cx="49434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CA3AF"/>
                </a:solidFill>
                <a:latin typeface="Inter"/>
              </a:rPr>
              <a:t>Contiene las transacciones operativas detalladas de la organización: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452068"/>
            <a:ext cx="4943475" cy="184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CA3AF"/>
                </a:solidFill>
                <a:latin typeface="Inter"/>
              </a:rPr>
              <a:t>Tabla maestra de </a:t>
            </a:r>
            <a:r>
              <a:rPr sz="1050" b="0" i="0" u="none" dirty="0" smtClean="0">
                <a:solidFill>
                  <a:srgbClr val="9CA3AF"/>
                </a:solidFill>
                <a:latin typeface="Inter"/>
              </a:rPr>
              <a:t>map</a:t>
            </a:r>
            <a:r>
              <a:rPr lang="es-MX" sz="1050" b="0" i="0" u="none" dirty="0" smtClean="0">
                <a:solidFill>
                  <a:srgbClr val="9CA3AF"/>
                </a:solidFill>
                <a:latin typeface="Inter"/>
              </a:rPr>
              <a:t>a </a:t>
            </a:r>
            <a:r>
              <a:rPr sz="1050" b="0" i="0" u="none" dirty="0" smtClean="0">
                <a:solidFill>
                  <a:srgbClr val="9CA3AF"/>
                </a:solidFill>
                <a:latin typeface="Inter"/>
              </a:rPr>
              <a:t>geográfico </a:t>
            </a:r>
            <a:r>
              <a:rPr sz="1050" b="0" i="0" u="none" dirty="0">
                <a:solidFill>
                  <a:srgbClr val="9CA3AF"/>
                </a:solidFill>
                <a:latin typeface="Inter"/>
              </a:rPr>
              <a:t>regional: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794968"/>
            <a:ext cx="2433637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Inter"/>
              </a:rPr>
              <a:t>Registro Ventas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1362" y="3794968"/>
            <a:ext cx="2433637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Inter"/>
              </a:rPr>
              <a:t>Precios y Costos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099768"/>
            <a:ext cx="2433637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Inter"/>
              </a:rPr>
              <a:t>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1362" y="4099768"/>
            <a:ext cx="2433637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CA3AF"/>
                </a:solidFill>
                <a:latin typeface="Inter"/>
              </a:rPr>
              <a:t>Cantidades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4404568"/>
            <a:ext cx="2433637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Inter"/>
              </a:rPr>
              <a:t>Subcategorías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1362" y="4404568"/>
            <a:ext cx="2433637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CA3AF"/>
                </a:solidFill>
                <a:latin typeface="Inter"/>
              </a:rPr>
              <a:t>Marcas y País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3875" y="3937843"/>
            <a:ext cx="1609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E5E7EB"/>
                </a:solidFill>
                <a:latin typeface="Inter SemiBold"/>
              </a:rPr>
              <a:t>Relación Dimensional: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75" y="4204543"/>
            <a:ext cx="4657725" cy="1905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A78BFA"/>
                </a:solidFill>
                <a:latin typeface="Inter"/>
              </a:rPr>
              <a:t>País Continente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362" y="4214068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833068"/>
            <a:ext cx="952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1362" y="3833068"/>
            <a:ext cx="952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137868"/>
            <a:ext cx="952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1362" y="4137868"/>
            <a:ext cx="952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442668"/>
            <a:ext cx="952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1362" y="4442668"/>
            <a:ext cx="952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1062" y="438150"/>
            <a:ext cx="11310937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Fuentes de Información y Estructura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952" y="2747749"/>
            <a:ext cx="1400175" cy="238125"/>
          </a:xfrm>
          <a:prstGeom prst="rect">
            <a:avLst/>
          </a:prstGeom>
        </p:spPr>
      </p:pic>
      <p:sp>
        <p:nvSpPr>
          <p:cNvPr id="35" name="TextBox 11"/>
          <p:cNvSpPr txBox="1"/>
          <p:nvPr/>
        </p:nvSpPr>
        <p:spPr>
          <a:xfrm>
            <a:off x="6467952" y="3100174"/>
            <a:ext cx="5190648" cy="213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sz="1404" b="1" i="0" u="none">
                <a:solidFill>
                  <a:srgbClr val="38BDF8"/>
                </a:solidFill>
                <a:latin typeface="Poppins"/>
              </a:rPr>
              <a:t>DataDisUno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412753"/>
            <a:ext cx="11125200" cy="59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91692"/>
            <a:ext cx="2638425" cy="15353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25" y="2591692"/>
            <a:ext cx="2638425" cy="15353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591692"/>
            <a:ext cx="2638425" cy="15353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175" y="2591692"/>
            <a:ext cx="2638425" cy="15353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87560"/>
            <a:ext cx="233362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87050" y="6515100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Resultados 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593728"/>
            <a:ext cx="10763250" cy="2286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E5E7EB"/>
                </a:solidFill>
                <a:latin typeface="Inter Medium"/>
              </a:rPr>
              <a:t>Primera Lectura del Rendimiento Commercial: Salud financiera sólida con un margen de ganancia del </a:t>
            </a:r>
            <a:r>
              <a:rPr sz="1200" b="1" i="0" u="none" dirty="0">
                <a:solidFill>
                  <a:srgbClr val="34D399"/>
                </a:solidFill>
                <a:latin typeface="Inter"/>
              </a:rPr>
              <a:t>50%</a:t>
            </a:r>
            <a:r>
              <a:rPr sz="1200" b="0" i="0" u="none" dirty="0">
                <a:solidFill>
                  <a:srgbClr val="E5E7EB"/>
                </a:solidFill>
                <a:latin typeface="Inter Medium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0212" y="2829817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" y="3210817"/>
            <a:ext cx="2162175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0" i="0" u="none" dirty="0">
                <a:solidFill>
                  <a:srgbClr val="38BDF8"/>
                </a:solidFill>
                <a:latin typeface="Poppins ExtraBold"/>
              </a:rPr>
              <a:t>$4,0M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726953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9CA3AF"/>
                </a:solidFill>
                <a:latin typeface="Inter SemiBold"/>
              </a:rPr>
              <a:t>VENTAS TOTALES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0087" y="2829817"/>
            <a:ext cx="3429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00450" y="3210817"/>
            <a:ext cx="2162175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0" i="0" u="none">
                <a:solidFill>
                  <a:srgbClr val="F87171"/>
                </a:solidFill>
                <a:latin typeface="Poppins ExtraBold"/>
              </a:rPr>
              <a:t>$2,0M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450" y="3726953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9CA3AF"/>
                </a:solidFill>
                <a:latin typeface="Inter SemiBold"/>
              </a:rPr>
              <a:t>COSTO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096517"/>
            <a:ext cx="2162175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0" i="0" u="none">
                <a:solidFill>
                  <a:srgbClr val="34D399"/>
                </a:solidFill>
                <a:latin typeface="Poppins ExtraBold"/>
              </a:rPr>
              <a:t>$2,0M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612653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9CA3AF"/>
                </a:solidFill>
                <a:latin typeface="Inter SemiBold"/>
              </a:rPr>
              <a:t>UTILIDAD NETA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8887" y="2829817"/>
            <a:ext cx="3810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58300" y="3210817"/>
            <a:ext cx="2162175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0" i="0" u="none">
                <a:solidFill>
                  <a:srgbClr val="FBBF24"/>
                </a:solidFill>
                <a:latin typeface="Poppins ExtraBold"/>
              </a:rPr>
              <a:t>711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3726953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CA3AF"/>
                </a:solidFill>
                <a:latin typeface="Inter SemiBold"/>
              </a:rPr>
              <a:t>UNIDADES VENDIDAS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0262" y="4631828"/>
            <a:ext cx="1524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1062" y="438150"/>
            <a:ext cx="11310937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KPI Principales del Negocio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76" y="2512381"/>
            <a:ext cx="2857899" cy="1614621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199" y="2548829"/>
            <a:ext cx="2599926" cy="1535310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8875" y="2477392"/>
            <a:ext cx="2486201" cy="1606747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34826" y="2477393"/>
            <a:ext cx="2787413" cy="16496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480" y="2616398"/>
            <a:ext cx="3337470" cy="519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480" y="3230760"/>
            <a:ext cx="3337470" cy="519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480" y="3845123"/>
            <a:ext cx="3337470" cy="519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480" y="4459485"/>
            <a:ext cx="3337470" cy="5191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7560"/>
            <a:ext cx="300037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87050" y="6515100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Ecosistema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4355" y="2721173"/>
            <a:ext cx="3204306" cy="1524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8BDF8"/>
                </a:solidFill>
                <a:latin typeface="Inter"/>
              </a:rPr>
              <a:t>Barras Horizontales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4355" y="2873573"/>
            <a:ext cx="305172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 dirty="0">
                <a:solidFill>
                  <a:srgbClr val="9CA3AF"/>
                </a:solidFill>
                <a:latin typeface="Inter"/>
              </a:rPr>
              <a:t>Top subcategorías por ventas.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4355" y="3335535"/>
            <a:ext cx="3204306" cy="1524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Línea + Columnas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4355" y="3487935"/>
            <a:ext cx="305172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CA3AF"/>
                </a:solidFill>
                <a:latin typeface="Inter"/>
              </a:rPr>
              <a:t>Evolución histórica temporal.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4355" y="3949898"/>
            <a:ext cx="3204306" cy="15240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BBF24"/>
                </a:solidFill>
                <a:latin typeface="Inter"/>
              </a:rPr>
              <a:t>Gráfico Circular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4355" y="4102298"/>
            <a:ext cx="305172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 dirty="0">
                <a:solidFill>
                  <a:srgbClr val="9CA3AF"/>
                </a:solidFill>
                <a:latin typeface="Inter"/>
              </a:rPr>
              <a:t>Cuota de transacciones por año.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4355" y="4564260"/>
            <a:ext cx="3204306" cy="15240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Mapa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4355" y="4716660"/>
            <a:ext cx="305172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 dirty="0">
                <a:solidFill>
                  <a:srgbClr val="9CA3AF"/>
                </a:solidFill>
                <a:latin typeface="Inter"/>
              </a:rPr>
              <a:t>Presencia comercial por región.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355" y="2740223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4355" y="3354585"/>
            <a:ext cx="12382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4355" y="3968948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4355" y="4583310"/>
            <a:ext cx="142875" cy="1238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7737" y="438150"/>
            <a:ext cx="112442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Dashboard Comercial de Ventas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418" y="1300552"/>
            <a:ext cx="7235464" cy="44693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1522588"/>
            <a:ext cx="5443537" cy="178206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301" y="3579467"/>
            <a:ext cx="5443537" cy="23916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187" y="2380731"/>
            <a:ext cx="4967287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2725" y="6515100"/>
            <a:ext cx="1285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Tendencias y </a:t>
            </a:r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Mercados</a:t>
            </a:r>
            <a:endParaRPr sz="900" b="0" i="0" u="none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53187" y="1760713"/>
            <a:ext cx="5215651" cy="20568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38BDF8"/>
                </a:solidFill>
                <a:latin typeface="Poppins"/>
              </a:rPr>
              <a:t>Estacionalidad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3187" y="2080693"/>
            <a:ext cx="4967287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Los picos máximos de facturación se concentran en el último trimestre: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2923656"/>
            <a:ext cx="49672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CA3AF"/>
                </a:solidFill>
                <a:latin typeface="Inter"/>
              </a:rPr>
              <a:t>Consistencia anual en transacciones: 2020 (25,5%) y 2022 (26,2%).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3795266"/>
            <a:ext cx="5215651" cy="20568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A78BFA"/>
                </a:solidFill>
                <a:latin typeface="Poppins"/>
              </a:rPr>
              <a:t>Cobertura Internacional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4115246"/>
            <a:ext cx="4967287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La operación comercial registra presencia activa en tres nodos clave: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821" y="1785418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4179" y="3828442"/>
            <a:ext cx="171450" cy="1714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453187" y="4415284"/>
            <a:ext cx="4967287" cy="3810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7487" y="4491484"/>
            <a:ext cx="47386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CA3AF"/>
                </a:solidFill>
                <a:latin typeface="Inter"/>
              </a:rPr>
              <a:t>América del Norte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3187" y="4872484"/>
            <a:ext cx="4967287" cy="3810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7487" y="4948684"/>
            <a:ext cx="47386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CA3AF"/>
                </a:solidFill>
                <a:latin typeface="Inter"/>
              </a:rPr>
              <a:t>América del Sur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3187" y="5329684"/>
            <a:ext cx="4967287" cy="3810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7487" y="5405884"/>
            <a:ext cx="47386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CA3AF"/>
                </a:solidFill>
                <a:latin typeface="Inter"/>
              </a:rPr>
              <a:t>Europa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7487" y="4529584"/>
            <a:ext cx="1143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7487" y="4986784"/>
            <a:ext cx="1143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7487" y="5443984"/>
            <a:ext cx="1143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Análisis Temporal y Distribución Geográfica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94" y="1522588"/>
            <a:ext cx="6011114" cy="458524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2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1" y="1091600"/>
            <a:ext cx="4659168" cy="25760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070" y="1149234"/>
            <a:ext cx="4382943" cy="19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7560"/>
            <a:ext cx="328612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5125" y="6515100"/>
            <a:ext cx="1133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Métricas </a:t>
            </a:r>
            <a:r>
              <a:rPr sz="900" b="0" i="0" u="none" dirty="0" err="1">
                <a:solidFill>
                  <a:srgbClr val="4B5563"/>
                </a:solidFill>
                <a:latin typeface="Inter"/>
              </a:rPr>
              <a:t>Financieras</a:t>
            </a:r>
            <a:endParaRPr sz="900" b="0" i="0" u="none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3900" y="1339249"/>
            <a:ext cx="4445043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 dirty="0">
                <a:solidFill>
                  <a:srgbClr val="38BDF8"/>
                </a:solidFill>
                <a:latin typeface="Poppins"/>
              </a:rPr>
              <a:t>Desglose del Embudo Financiero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389790"/>
              </p:ext>
            </p:extLst>
          </p:nvPr>
        </p:nvGraphicFramePr>
        <p:xfrm>
          <a:off x="723900" y="1735431"/>
          <a:ext cx="4233373" cy="1606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31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Indicador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Monto USD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3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D1D5DB"/>
                          </a:solidFill>
                          <a:latin typeface="Inter"/>
                        </a:rPr>
                        <a:t>Ventas Totales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smtClean="0">
                          <a:solidFill>
                            <a:srgbClr val="38BDF8"/>
                          </a:solidFill>
                          <a:latin typeface="Inter"/>
                        </a:rPr>
                        <a:t>$</a:t>
                      </a:r>
                      <a:r>
                        <a:rPr lang="es-MX" sz="1125" b="1" i="0" u="none" dirty="0" smtClean="0">
                          <a:solidFill>
                            <a:srgbClr val="38BDF8"/>
                          </a:solidFill>
                          <a:latin typeface="Inter"/>
                        </a:rPr>
                        <a:t>289,470</a:t>
                      </a:r>
                      <a:endParaRPr sz="1125" b="1" i="0" u="none" dirty="0">
                        <a:solidFill>
                          <a:srgbClr val="38BDF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1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FF0000"/>
                          </a:solidFill>
                          <a:latin typeface="Inter"/>
                        </a:rPr>
                        <a:t>Costos Totales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smtClean="0">
                          <a:solidFill>
                            <a:srgbClr val="F87171"/>
                          </a:solidFill>
                          <a:latin typeface="Inter"/>
                        </a:rPr>
                        <a:t>$</a:t>
                      </a:r>
                      <a:r>
                        <a:rPr lang="es-MX" sz="1125" b="1" i="0" u="none" dirty="0" smtClean="0">
                          <a:solidFill>
                            <a:srgbClr val="F87171"/>
                          </a:solidFill>
                          <a:latin typeface="Inter"/>
                        </a:rPr>
                        <a:t>106,629</a:t>
                      </a:r>
                      <a:endParaRPr sz="1125" b="1" i="0" u="none" dirty="0">
                        <a:solidFill>
                          <a:srgbClr val="F8717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13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D1D5DB"/>
                          </a:solidFill>
                          <a:latin typeface="Inter"/>
                        </a:rPr>
                        <a:t>Utilidad Neta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smtClean="0">
                          <a:solidFill>
                            <a:srgbClr val="34D399"/>
                          </a:solidFill>
                          <a:latin typeface="Inter"/>
                        </a:rPr>
                        <a:t>$</a:t>
                      </a:r>
                      <a:r>
                        <a:rPr lang="es-MX" sz="1125" b="1" i="0" u="none" dirty="0" smtClean="0">
                          <a:solidFill>
                            <a:srgbClr val="34D399"/>
                          </a:solidFill>
                          <a:latin typeface="Inter"/>
                        </a:rPr>
                        <a:t>182,841</a:t>
                      </a:r>
                      <a:endParaRPr sz="1125" b="1" i="0" u="none" dirty="0">
                        <a:solidFill>
                          <a:srgbClr val="34D39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13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FF0000"/>
                          </a:solidFill>
                          <a:latin typeface="Inter"/>
                        </a:rPr>
                        <a:t>Margen Bruto (%)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125" b="1" i="0" u="none" dirty="0" smtClean="0">
                          <a:solidFill>
                            <a:srgbClr val="FBBF24"/>
                          </a:solidFill>
                          <a:latin typeface="Inter"/>
                        </a:rPr>
                        <a:t>80</a:t>
                      </a:r>
                      <a:r>
                        <a:rPr sz="1125" b="1" i="0" u="none" dirty="0" smtClean="0">
                          <a:solidFill>
                            <a:srgbClr val="FBBF24"/>
                          </a:solidFill>
                          <a:latin typeface="Inter"/>
                        </a:rPr>
                        <a:t>%</a:t>
                      </a:r>
                      <a:endParaRPr sz="1125" b="1" i="0" u="none" dirty="0">
                        <a:solidFill>
                          <a:srgbClr val="FBBF24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 flipV="1">
            <a:off x="707656" y="1573570"/>
            <a:ext cx="4316925" cy="45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6312" y="438150"/>
            <a:ext cx="11215687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Análisis Cuantitativo: ¿Cuánto Vendemos y Ganamos?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1" y="3739332"/>
            <a:ext cx="300037" cy="266700"/>
          </a:xfrm>
          <a:prstGeom prst="rect">
            <a:avLst/>
          </a:prstGeom>
        </p:spPr>
      </p:pic>
      <p:sp>
        <p:nvSpPr>
          <p:cNvPr id="27" name="TextBox 20"/>
          <p:cNvSpPr txBox="1"/>
          <p:nvPr/>
        </p:nvSpPr>
        <p:spPr>
          <a:xfrm>
            <a:off x="947738" y="3689922"/>
            <a:ext cx="112442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Análisis de Desempeño por Subcategorías</a:t>
            </a:r>
          </a:p>
        </p:txBody>
      </p:sp>
      <p:pic>
        <p:nvPicPr>
          <p:cNvPr id="28" name="Picture 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1" y="4144808"/>
            <a:ext cx="5419725" cy="2224980"/>
          </a:xfrm>
          <a:prstGeom prst="rect">
            <a:avLst/>
          </a:prstGeom>
        </p:spPr>
      </p:pic>
      <p:pic>
        <p:nvPicPr>
          <p:cNvPr id="29" name="Picture 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4210758"/>
            <a:ext cx="5419725" cy="2210692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50" y="4210758"/>
            <a:ext cx="5214126" cy="2323392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51" y="1091600"/>
            <a:ext cx="4558531" cy="2031262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5" y="4217197"/>
            <a:ext cx="5412582" cy="22601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56879"/>
            <a:ext cx="359405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00" y="2656879"/>
            <a:ext cx="3594050" cy="1257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400" y="2656879"/>
            <a:ext cx="3594199" cy="125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085629"/>
            <a:ext cx="3594050" cy="1257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00" y="4085629"/>
            <a:ext cx="3594050" cy="1257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400" y="4085629"/>
            <a:ext cx="3594199" cy="1257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2252067"/>
            <a:ext cx="111252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9CA3AF"/>
                </a:solidFill>
                <a:latin typeface="Inter"/>
              </a:rPr>
              <a:t>Ante el bajo desempeño de facturación en ciertas líneas, formulamos 6 dimensiones de investigación empresarial: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44150" y="6515100"/>
            <a:ext cx="1314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Diagnóstico Empresarial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895004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1525" y="3161704"/>
            <a:ext cx="327369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1. Producto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333154"/>
            <a:ext cx="3117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¿El producto satisface la demanda actual del mercado target?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7025" y="2895004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7025" y="3161704"/>
            <a:ext cx="327369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2. 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7025" y="3333154"/>
            <a:ext cx="3117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¿El precio de venta está fuera del rango competitivo?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2895004"/>
            <a:ext cx="23812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525" y="3161704"/>
            <a:ext cx="327384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3.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525" y="3333154"/>
            <a:ext cx="31179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¿Cuáles segmentos de clientes están reduciendo la recompra?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323754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1525" y="4590454"/>
            <a:ext cx="327369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4. Promoción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4761904"/>
            <a:ext cx="3117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¿Existe visibilidad publicitaria y pauta comercial suficiente?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7025" y="4323754"/>
            <a:ext cx="19050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37025" y="4590454"/>
            <a:ext cx="327369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5. Rotación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7025" y="4761904"/>
            <a:ext cx="3117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¿Incurre en costos excesivos de inventario por baja velocidad?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525" y="4323754"/>
            <a:ext cx="190500" cy="190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02525" y="4590454"/>
            <a:ext cx="327384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6. Portafolio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525" y="4761904"/>
            <a:ext cx="311794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Inter"/>
              </a:rPr>
              <a:t>¿Conviene reestructurar o sustituir la oferta comercial?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Diagnóstico Cualitativo: Hipótesis de Investigación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16298"/>
            <a:ext cx="11125200" cy="904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35473"/>
            <a:ext cx="11125200" cy="904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54648"/>
            <a:ext cx="11125200" cy="904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873823"/>
            <a:ext cx="11125200" cy="904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54423"/>
            <a:ext cx="428625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073598"/>
            <a:ext cx="428625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092773"/>
            <a:ext cx="428625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5111948"/>
            <a:ext cx="428625" cy="428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87560"/>
            <a:ext cx="261937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0" y="6515100"/>
            <a:ext cx="800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Plan de Acción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2090142"/>
            <a:ext cx="565070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Ajuste de Precios y Márgenes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50" y="2261592"/>
            <a:ext cx="5381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Revisar la estructura Costo vs Precio para mejorar competitividad sin sacrificar rentabilidad.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3109317"/>
            <a:ext cx="481060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Promociones Dirigidas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0650" y="3280767"/>
            <a:ext cx="45815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Descuentos por volumen para acelerar la velocidad de rotación en inventario.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0650" y="4128492"/>
            <a:ext cx="484060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34D399"/>
                </a:solidFill>
                <a:latin typeface="Poppins"/>
              </a:rPr>
              <a:t>Estrategia de Combos (Cross-Selling)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0650" y="4299942"/>
            <a:ext cx="46101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Emparejar productos estrella (Carnes) con bajo rendimiento (Dulces/Postres).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0650" y="5147667"/>
            <a:ext cx="545068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FFFFF"/>
                </a:solidFill>
                <a:latin typeface="Poppins"/>
              </a:rPr>
              <a:t>Reestructuración del Portafolio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0650" y="5319117"/>
            <a:ext cx="5191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Si el bajo volumen persiste, evaluar la sustitución de ítems por nuevas líneas dinámicas.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637" y="438150"/>
            <a:ext cx="11282362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FFFFFF"/>
                </a:solidFill>
                <a:latin typeface="Poppins"/>
              </a:rPr>
              <a:t>Estrategias para Productos de Bajo Rendimiento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33216"/>
            <a:ext cx="11125200" cy="9648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36193"/>
            <a:ext cx="5443537" cy="11257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3929062"/>
            <a:ext cx="5443537" cy="93999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7560"/>
            <a:ext cx="328612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B5563"/>
                </a:solidFill>
                <a:latin typeface="Inter"/>
              </a:rPr>
              <a:t>SENA — Análisis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296" y="2833241"/>
            <a:ext cx="11261407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 i="0" u="none">
                <a:solidFill>
                  <a:srgbClr val="F87171"/>
                </a:solidFill>
                <a:latin typeface="Poppins"/>
              </a:rPr>
              <a:t>¡NO NECESARIAMENTE!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183731"/>
            <a:ext cx="10725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 dirty="0">
                <a:solidFill>
                  <a:srgbClr val="E5E7EB"/>
                </a:solidFill>
                <a:latin typeface="Inter"/>
              </a:rPr>
              <a:t>El aumento de la facturación sin control de costos operacionales degrada el margen de utilidad neta.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074318"/>
            <a:ext cx="5185648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34D399"/>
                </a:solidFill>
                <a:latin typeface="Poppins"/>
              </a:rPr>
              <a:t>Escenario Eficiente (Crecimiento Rentable)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352329"/>
            <a:ext cx="4938712" cy="37147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D1D5DB"/>
                </a:solidFill>
                <a:latin typeface="Inter"/>
              </a:rPr>
              <a:t>Aumento de Ventas con Costos Controlados Expansión del Margen % y Utilidad Neta.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1762" y="4167187"/>
            <a:ext cx="5185648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 dirty="0">
                <a:solidFill>
                  <a:srgbClr val="F87171"/>
                </a:solidFill>
                <a:latin typeface="Poppins"/>
              </a:rPr>
              <a:t>Escenario Ineficiente (Trampa del Volumen)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1762" y="4445198"/>
            <a:ext cx="4938712" cy="18573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D1D5DB"/>
                </a:solidFill>
                <a:latin typeface="Inter"/>
              </a:rPr>
              <a:t>Aumento de Ventas con Costos Desproporcionados Caída de Utilidad Bruta.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312" y="438150"/>
            <a:ext cx="11215687" cy="38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oppins"/>
              </a:rPr>
              <a:t>¿Vender Más Significa Ganar Más?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918120"/>
            <a:ext cx="111252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3683198"/>
            <a:ext cx="809625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321123"/>
            <a:ext cx="3581400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2321123"/>
            <a:ext cx="3581400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321123"/>
            <a:ext cx="3581400" cy="1076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0487" y="487560"/>
            <a:ext cx="233362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00500" y="5064323"/>
            <a:ext cx="4191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Inter SemiBold"/>
              </a:rPr>
              <a:t>Diana Torres · Laura Pérez | SENA Barranquilla / Malambo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515100"/>
            <a:ext cx="1190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4B5563"/>
                </a:solidFill>
                <a:latin typeface="Inter"/>
              </a:rPr>
              <a:t>SENA — Ficha 341575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5050" y="3940373"/>
            <a:ext cx="75819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1" i="1" u="none" dirty="0">
                <a:solidFill>
                  <a:srgbClr val="FFFFFF"/>
                </a:solidFill>
                <a:latin typeface="Poppins"/>
              </a:rPr>
              <a:t>“Los datos no solo muestran lo que ocurrió: nos ayudan a decidir qué hacer después.”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2559248"/>
            <a:ext cx="326040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38BDF8"/>
                </a:solidFill>
                <a:latin typeface="Poppins"/>
              </a:rPr>
              <a:t>📈 Finanzas Operativas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78784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$4M Ventas / $2M Utilidad / 50% Margen global sustentable.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2559248"/>
            <a:ext cx="326040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34D399"/>
                </a:solidFill>
                <a:latin typeface="Poppins"/>
              </a:rPr>
              <a:t>🏆 Productos Líderes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278784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Carnes, Lácteos y Vegetales impulsan el volumen principal.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559248"/>
            <a:ext cx="326040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 dirty="0">
                <a:solidFill>
                  <a:srgbClr val="FBBF24"/>
                </a:solidFill>
                <a:latin typeface="Poppins"/>
              </a:rPr>
              <a:t>🎯 Decisión Basada en Evidencia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278784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Inter"/>
              </a:rPr>
              <a:t>Pasamos de intuición a estrategia analítica comprobable.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362" y="438150"/>
            <a:ext cx="11310937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oppins"/>
              </a:rPr>
              <a:t>Conclusiones del Proyecto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1301</Words>
  <Application>Microsoft Office PowerPoint</Application>
  <PresentationFormat>Panorámica</PresentationFormat>
  <Paragraphs>223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0" baseType="lpstr">
      <vt:lpstr>Inter</vt:lpstr>
      <vt:lpstr>Inter ExtraBold</vt:lpstr>
      <vt:lpstr>Inter Medium</vt:lpstr>
      <vt:lpstr>Inter SemiBold</vt:lpstr>
      <vt:lpstr>Poppins</vt:lpstr>
      <vt:lpstr>Poppins ExtraBold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SENA</dc:creator>
  <cp:keywords/>
  <dc:description>generated using python-pptx</dc:description>
  <cp:lastModifiedBy>SENA</cp:lastModifiedBy>
  <cp:revision>18</cp:revision>
  <dcterms:created xsi:type="dcterms:W3CDTF">2013-01-27T09:14:16Z</dcterms:created>
  <dcterms:modified xsi:type="dcterms:W3CDTF">2026-09-08T16:02:09Z</dcterms:modified>
  <cp:category/>
</cp:coreProperties>
</file>